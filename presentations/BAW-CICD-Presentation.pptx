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9d8904b0127f4d6e" /><Relationship Type="http://schemas.openxmlformats.org/package/2006/relationships/metadata/core-properties" Target="/docProps/core.xml" Id="R838a2a2124cb4d42" /><Relationship Type="http://schemas.openxmlformats.org/officeDocument/2006/relationships/extended-properties" Target="/docProps/app.xml" Id="R650f377fd3af4c48" /><Relationship Type="http://schemas.openxmlformats.org/officeDocument/2006/relationships/custom-properties" Target="/docProps/custom.xml" Id="R57a81062c89d42ef"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eff252d844a649e6"/>
  </p:notesMasterIdLst>
  <p:sldIdLst>
    <p:sldId id="256" r:id="R2844ed96ba604e01"/>
    <p:sldId id="257" r:id="R130d2a081c5b4fb1"/>
    <p:sldId id="258" r:id="Rd04372e66b6a4534"/>
    <p:sldId id="259" r:id="R744c222ff71f4c81"/>
    <p:sldId id="260" r:id="R2e473c768ebf4f89"/>
    <p:sldId id="261" r:id="Rbbcd8a55c57f4d08"/>
    <p:sldId id="262" r:id="R93453357003e4441"/>
    <p:sldId id="263" r:id="R364d8e3f588d48de"/>
    <p:sldId id="264" r:id="R37ab2ad9663845a4"/>
    <p:sldId id="265" r:id="R59d6da01dc024e79"/>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2844ed96ba604e01" /><Relationship Type="http://schemas.openxmlformats.org/officeDocument/2006/relationships/notesMaster" Target="/ppt/notesMasters/notesMaster1.xml" Id="Reff252d844a649e6" /><Relationship Type="http://schemas.openxmlformats.org/officeDocument/2006/relationships/slide" Target="/ppt/slides/slide2.xml" Id="R130d2a081c5b4fb1" /><Relationship Type="http://schemas.openxmlformats.org/officeDocument/2006/relationships/slide" Target="/ppt/slides/slide3.xml" Id="Rd04372e66b6a4534" /><Relationship Type="http://schemas.openxmlformats.org/officeDocument/2006/relationships/slide" Target="/ppt/slides/slide4.xml" Id="R744c222ff71f4c81" /><Relationship Type="http://schemas.openxmlformats.org/officeDocument/2006/relationships/slide" Target="/ppt/slides/slide5.xml" Id="R2e473c768ebf4f89" /><Relationship Type="http://schemas.openxmlformats.org/officeDocument/2006/relationships/slide" Target="/ppt/slides/slide6.xml" Id="Rbbcd8a55c57f4d08" /><Relationship Type="http://schemas.openxmlformats.org/officeDocument/2006/relationships/slide" Target="/ppt/slides/slide7.xml" Id="R93453357003e4441" /><Relationship Type="http://schemas.openxmlformats.org/officeDocument/2006/relationships/slide" Target="/ppt/slides/slide8.xml" Id="R364d8e3f588d48de" /><Relationship Type="http://schemas.openxmlformats.org/officeDocument/2006/relationships/slide" Target="/ppt/slides/slide9.xml" Id="R37ab2ad9663845a4" /><Relationship Type="http://schemas.openxmlformats.org/officeDocument/2006/relationships/slide" Target="/ppt/slides/slide10.xml" Id="R59d6da01dc024e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f9395312c55464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450bd3348bfe4011" /><Relationship Type="http://schemas.openxmlformats.org/officeDocument/2006/relationships/slide" Target="/ppt/slides/slide1.xml" Id="R90063dd0d2b44291"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1606edcd07064b3f" /><Relationship Type="http://schemas.openxmlformats.org/officeDocument/2006/relationships/slide" Target="/ppt/slides/slide2.xml" Id="R7a1c8d7623114024"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6cd5c662e8df4ccc" /><Relationship Type="http://schemas.openxmlformats.org/officeDocument/2006/relationships/slide" Target="/ppt/slides/slide3.xml" Id="R75b10d5ad14041a9"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960576ecb25d4152" /><Relationship Type="http://schemas.openxmlformats.org/officeDocument/2006/relationships/slide" Target="/ppt/slides/slide4.xml" Id="Rc6412e1d7ae2462b"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28d0d0d116cf46e1" /><Relationship Type="http://schemas.openxmlformats.org/officeDocument/2006/relationships/slide" Target="/ppt/slides/slide5.xml" Id="R141298dc0cad4954"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23a8d7710778422a" /><Relationship Type="http://schemas.openxmlformats.org/officeDocument/2006/relationships/slide" Target="/ppt/slides/slide6.xml" Id="R64f9d883843c4f72"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550bf541492f41cd" /><Relationship Type="http://schemas.openxmlformats.org/officeDocument/2006/relationships/slide" Target="/ppt/slides/slide7.xml" Id="R1802b8c1b1c44812"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2eb8dd97f31243ad" /><Relationship Type="http://schemas.openxmlformats.org/officeDocument/2006/relationships/slide" Target="/ppt/slides/slide8.xml" Id="Rcd2decbe825c4614"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e7249e3273a14800" /><Relationship Type="http://schemas.openxmlformats.org/officeDocument/2006/relationships/slide" Target="/ppt/slides/slide9.xml" Id="R878f33c46d51487e"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a6c9cc15f115406e" /><Relationship Type="http://schemas.openxmlformats.org/officeDocument/2006/relationships/slide" Target="/ppt/slides/slide10.xml" Id="Rb78ac9296f6f4f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Introduce yourself and set context: this is a proof-of-concept CICD pipeline for IBM BAW using GitHub Actions and a self-hosted runner. The goal is to show how we can automate snapshot deployments from Workflow Center to QA.</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Talk about the pain points your team was experiencing before this pipeline. Emphasise the tribal knowledge problem — only certain people knew how to redeploy, which is a single point of failure. The lack of audit trail made it impossible to answer 'what exactly is running in QA right now?'</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Summarise the solution at a high level. Emphasise that the self-hosted runner is key — it means credentials and traffic never leave your corporate network. The approval gate means QA gets a formal sign-off step that creates an immutable record in GitHub.</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through each step carefully. Steps 4-7 are the technical heart of the pipeline and run entirely on the self-hosted runner. Pause on step 9 — this is the GitHub Environments feature that provides the manual gate. The reviewer gets an email and clicks Approve in the GitHub UI.</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Go through each component and explain why it was chosen. GitHub Actions was selected for its tight integration with the repository and the Environments approval feature. The /ops REST API is the undocumented-but-stable endpoint IBM BAW exposes for programmatic control. Stress that no additional tooling (Jenkins, Ansible, etc.) was required.</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a good slide to show or reference the actual repository. The shell script is the workhorse — all curl calls, error handling, and retry logic live there. The workflow YAML is the orchestrator. Mention that the log retention on the runner is intentional — GitHub Actions logs are ephemeral but the runner logs are permanent and include the full API response bodies.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most valuable slide for the audience — these are hard-won lessons that are not documented anywhere. The CSRF token naming inconsistency alone cost hours of debugging. The git fetch-depth issue causes the changed-file detection to silently fail on the second commit in a fresh clone. Encourage audience to take a photo of this slide.</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Have the browser open to GitHub Actions and the BAW Workflow Center before presenting this slide. Walk through each step live. Have a fallback recording ready in case the network is unreliable. Key moments to pause on: the trigger firing (step 2), the async poll loop (step 3), and the approval email arriving (step 4). Click Approve live in step 5 — the audience loves seeing the gate clear.</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invites the audience to think about where this could go. The PROD gate is the most immediately valuable next step — same pattern as QA but with stricter approvers. The smoke test idea is powerful: after install, fire a lightweight process instance and check it completes. Rollback requires storing the previous snapshot reference, which is trivially available in git history.</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Leave time for questions. Likely questions: How do you handle secrets in the runner environment? (GitHub Secrets, never in the repo.) Can this work with BAW on Cloud? (Potentially yes, but the runner needs network access.) How long does a typical deployment take end-to-end? (Around 10-15 minutes from push to QA install complete, depending on snapshot size.)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80070ede1245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6ed38e8a1a45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9b1a7bd6384e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6fed9297a449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45cef4a12b4367"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b0f4b3e38ee941f8"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867b0e381f194887" /><Relationship Type="http://schemas.openxmlformats.org/officeDocument/2006/relationships/notesSlide" Target="/ppt/notesSlides/notesSlide1.xml" Id="R181d6ba43e7143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1c3706f9594ddb" /><Relationship Type="http://schemas.openxmlformats.org/officeDocument/2006/relationships/notesSlide" Target="/ppt/notesSlides/notesSlide2.xml" Id="Re6c1498f9eb544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e6bb124fe647ed" /><Relationship Type="http://schemas.openxmlformats.org/officeDocument/2006/relationships/notesSlide" Target="/ppt/notesSlides/notesSlide3.xml" Id="R04d1a9bb57774e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aee1bfefaa4259" /><Relationship Type="http://schemas.openxmlformats.org/officeDocument/2006/relationships/notesSlide" Target="/ppt/notesSlides/notesSlide4.xml" Id="R76bb0dbe4ab341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bdbfed42eb44e1" /><Relationship Type="http://schemas.openxmlformats.org/officeDocument/2006/relationships/notesSlide" Target="/ppt/notesSlides/notesSlide5.xml" Id="Ra7bedfc4c5c943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36017c75c3487a" /><Relationship Type="http://schemas.openxmlformats.org/officeDocument/2006/relationships/notesSlide" Target="/ppt/notesSlides/notesSlide6.xml" Id="R8696031d415f49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9af908f69940f4" /><Relationship Type="http://schemas.openxmlformats.org/officeDocument/2006/relationships/notesSlide" Target="/ppt/notesSlides/notesSlide7.xml" Id="R8fff9f7c8ed64e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f5908bdeb147bf" /><Relationship Type="http://schemas.openxmlformats.org/officeDocument/2006/relationships/notesSlide" Target="/ppt/notesSlides/notesSlide8.xml" Id="R39aac0bebf4a4b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d212e66e434b86" /><Relationship Type="http://schemas.openxmlformats.org/officeDocument/2006/relationships/notesSlide" Target="/ppt/notesSlides/notesSlide9.xml" Id="Rf8af24d6bfa940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1c3ace88944365" /><Relationship Type="http://schemas.openxmlformats.org/officeDocument/2006/relationships/notesSlide" Target="/ppt/notesSlides/notesSlide10.xml" Id="R77d068f2c0cc444a"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0" name="Title"/>
          <p:cNvSpPr txBox="1"/>
          <p:nvPr/>
        </p:nvSpPr>
        <p:spPr>
          <a:xfrm xmlns:a="http://schemas.openxmlformats.org/drawingml/2006/main">
            <a:off x="540000" y="108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FFFFFF"/>
                </a:solidFill>
                <a:latin typeface="Calibri"/>
                <a:ea typeface="Calibri"/>
              </a:rPr>
              <a:t>Automating BAW Deployments with GitHub Actions</a:t>
            </a:r>
          </a:p>
        </p:txBody>
      </p:sp>
      <p:sp>
        <p:nvSpPr>
          <p:cNvPr id="100001" name="Subtitle"/>
          <p:cNvSpPr txBox="1"/>
          <p:nvPr/>
        </p:nvSpPr>
        <p:spPr>
          <a:xfrm xmlns:a="http://schemas.openxmlformats.org/drawingml/2006/main">
            <a:off x="540000" y="288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2400" b="0">
                <a:solidFill>
                  <a:srgbClr val="BDD7EE"/>
                </a:solidFill>
                <a:latin typeface="Calibri"/>
                <a:ea typeface="Calibri"/>
              </a:rPr>
              <a:t>From Workflow Center to QA — A CICD Pipeline PoC</a:t>
            </a:r>
          </a:p>
        </p:txBody>
      </p:sp>
      <p:sp>
        <p:nvSpPr>
          <p:cNvPr id="100002" name="Footer"/>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400" b="0">
                <a:solidFill>
                  <a:srgbClr val="9DC3E6"/>
                </a:solidFill>
                <a:latin typeface="Calibri"/>
                <a:ea typeface="Calibri"/>
              </a:rPr>
              <a:t>BAW User Group | 2026</a:t>
            </a:r>
          </a:p>
        </p:txBody>
      </p:sp>
    </p:spTree>
  </p:cSld>
</p:sld>
</file>

<file path=ppt/slides/slide2.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3"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The Challenge</a:t>
            </a:r>
          </a:p>
        </p:txBody>
      </p:sp>
      <p:sp>
        <p:nvSpPr>
          <p:cNvPr id="100004" name="Body"/>
          <p:cNvSpPr txBox="1"/>
          <p:nvPr/>
        </p:nvSpPr>
        <p:spPr>
          <a:xfrm xmlns:a="http://schemas.openxmlformats.org/drawingml/2006/main">
            <a:off x="540000" y="1260000"/>
            <a:ext cx="1080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FFFFFF"/>
                </a:solidFill>
                <a:latin typeface="Calibri"/>
                <a:ea typeface="Calibri"/>
              </a:rPr>
              <a:t>• Manual snapshot deployments are error-prone and slow</a:t>
            </a:r>
          </a:p>
          <a:p xmlns:a="http://schemas.openxmlformats.org/drawingml/2006/main">
            <a:r>
              <a:rPr lang="en-US" sz="2000" b="0">
                <a:solidFill>
                  <a:srgbClr val="FFFFFF"/>
                </a:solidFill>
                <a:latin typeface="Calibri"/>
                <a:ea typeface="Calibri"/>
              </a:rPr>
              <a:t>• No audit trail of what was deployed and when</a:t>
            </a:r>
          </a:p>
          <a:p xmlns:a="http://schemas.openxmlformats.org/drawingml/2006/main">
            <a:r>
              <a:rPr lang="en-US" sz="2000" b="0">
                <a:solidFill>
                  <a:srgbClr val="FFFFFF"/>
                </a:solidFill>
                <a:latin typeface="Calibri"/>
                <a:ea typeface="Calibri"/>
              </a:rPr>
              <a:t>• QA team has no formal sign-off gate</a:t>
            </a:r>
          </a:p>
          <a:p xmlns:a="http://schemas.openxmlformats.org/drawingml/2006/main">
            <a:r>
              <a:rPr lang="en-US" sz="2000" b="0">
                <a:solidFill>
                  <a:srgbClr val="FFFFFF"/>
                </a:solidFill>
                <a:latin typeface="Calibri"/>
                <a:ea typeface="Calibri"/>
              </a:rPr>
              <a:t>• Developers and admins work in silos</a:t>
            </a:r>
          </a:p>
          <a:p xmlns:a="http://schemas.openxmlformats.org/drawingml/2006/main">
            <a:r>
              <a:rPr lang="en-US" sz="2000" b="0">
                <a:solidFill>
                  <a:srgbClr val="FFFFFF"/>
                </a:solidFill>
                <a:latin typeface="Calibri"/>
                <a:ea typeface="Calibri"/>
              </a:rPr>
              <a:t>• Re-deployments require tribal knowledge</a:t>
            </a:r>
          </a:p>
        </p:txBody>
      </p:sp>
    </p:spTree>
  </p:cSld>
</p:sld>
</file>

<file path=ppt/slides/slide3.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5"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The Solution — Automated CICD Pipeline</a:t>
            </a:r>
          </a:p>
        </p:txBody>
      </p:sp>
      <p:sp>
        <p:nvSpPr>
          <p:cNvPr id="100006" name="Intro"/>
          <p:cNvSpPr txBox="1"/>
          <p:nvPr/>
        </p:nvSpPr>
        <p:spPr>
          <a:xfrm xmlns:a="http://schemas.openxmlformats.org/drawingml/2006/main">
            <a:off x="540000" y="1152000"/>
            <a:ext cx="1080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BDD7EE"/>
                </a:solidFill>
                <a:latin typeface="Calibri"/>
                <a:ea typeface="Calibri"/>
              </a:rPr>
              <a:t>A fully automated pipeline that connects BAW Workflow Center to your QA environment using GitHub Actions</a:t>
            </a:r>
          </a:p>
        </p:txBody>
      </p:sp>
      <p:sp>
        <p:nvSpPr>
          <p:cNvPr id="100007" name="KeyPoints"/>
          <p:cNvSpPr txBox="1"/>
          <p:nvPr/>
        </p:nvSpPr>
        <p:spPr>
          <a:xfrm xmlns:a="http://schemas.openxmlformats.org/drawingml/2006/main">
            <a:off x="540000" y="2160000"/>
            <a:ext cx="10800000" cy="28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FFFFFF"/>
                </a:solidFill>
                <a:latin typeface="Calibri"/>
                <a:ea typeface="Calibri"/>
              </a:rPr>
              <a:t>✔  Zero-touch deployment</a:t>
            </a:r>
          </a:p>
          <a:p xmlns:a="http://schemas.openxmlformats.org/drawingml/2006/main">
            <a:r>
              <a:rPr lang="en-US" sz="2200" b="0">
                <a:solidFill>
                  <a:srgbClr val="FFFFFF"/>
                </a:solidFill>
                <a:latin typeface="Calibri"/>
                <a:ea typeface="Calibri"/>
              </a:rPr>
              <a:t>✔  Full audit trail</a:t>
            </a:r>
          </a:p>
          <a:p xmlns:a="http://schemas.openxmlformats.org/drawingml/2006/main">
            <a:r>
              <a:rPr lang="en-US" sz="2200" b="0">
                <a:solidFill>
                  <a:srgbClr val="FFFFFF"/>
                </a:solidFill>
                <a:latin typeface="Calibri"/>
                <a:ea typeface="Calibri"/>
              </a:rPr>
              <a:t>✔  Human approval gate</a:t>
            </a:r>
          </a:p>
          <a:p xmlns:a="http://schemas.openxmlformats.org/drawingml/2006/main">
            <a:r>
              <a:rPr lang="en-US" sz="2200" b="0">
                <a:solidFill>
                  <a:srgbClr val="FFFFFF"/>
                </a:solidFill>
                <a:latin typeface="Calibri"/>
                <a:ea typeface="Calibri"/>
              </a:rPr>
              <a:t>✔  Self-hosted runner (stays on your network)</a:t>
            </a:r>
          </a:p>
        </p:txBody>
      </p:sp>
    </p:spTree>
  </p:cSld>
</p:sld>
</file>

<file path=ppt/slides/slide4.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08"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How It Works</a:t>
            </a:r>
          </a:p>
        </p:txBody>
      </p:sp>
      <p:sp>
        <p:nvSpPr>
          <p:cNvPr id="100009" name="Body"/>
          <p:cNvSpPr txBox="1"/>
          <p:nvPr/>
        </p:nvSpPr>
        <p:spPr>
          <a:xfrm xmlns:a="http://schemas.openxmlformats.org/drawingml/2006/main">
            <a:off x="540000" y="1152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FFFFFF"/>
                </a:solidFill>
                <a:latin typeface="Calibri"/>
                <a:ea typeface="Calibri"/>
              </a:rPr>
              <a:t>1. Developer creates snapshot in BAW Workflow Center</a:t>
            </a:r>
          </a:p>
          <a:p xmlns:a="http://schemas.openxmlformats.org/drawingml/2006/main">
            <a:r>
              <a:rPr lang="en-US" sz="1800" b="0">
                <a:solidFill>
                  <a:srgbClr val="FFFFFF"/>
                </a:solidFill>
                <a:latin typeface="Calibri"/>
                <a:ea typeface="Calibri"/>
              </a:rPr>
              <a:t>2. BAW pushes descriptor JSON to GitHub repository</a:t>
            </a:r>
          </a:p>
          <a:p xmlns:a="http://schemas.openxmlformats.org/drawingml/2006/main">
            <a:r>
              <a:rPr lang="en-US" sz="1800" b="0">
                <a:solidFill>
                  <a:srgbClr val="FFFFFF"/>
                </a:solidFill>
                <a:latin typeface="Calibri"/>
                <a:ea typeface="Calibri"/>
              </a:rPr>
              <a:t>3. GitHub Actions detects the push and triggers workflow</a:t>
            </a:r>
          </a:p>
          <a:p xmlns:a="http://schemas.openxmlformats.org/drawingml/2006/main">
            <a:r>
              <a:rPr lang="en-US" sz="1800" b="0">
                <a:solidFill>
                  <a:srgbClr val="FFFFFF"/>
                </a:solidFill>
                <a:latin typeface="Calibri"/>
                <a:ea typeface="Calibri"/>
              </a:rPr>
              <a:t>4. Self-hosted runner authenticates with Workflow Center REST API</a:t>
            </a:r>
          </a:p>
          <a:p xmlns:a="http://schemas.openxmlformats.org/drawingml/2006/main">
            <a:r>
              <a:rPr lang="en-US" sz="1800" b="0">
                <a:solidFill>
                  <a:srgbClr val="FFFFFF"/>
                </a:solidFill>
                <a:latin typeface="Calibri"/>
                <a:ea typeface="Calibri"/>
              </a:rPr>
              <a:t>5. Runner downloads the offline package (.zip)</a:t>
            </a:r>
          </a:p>
          <a:p xmlns:a="http://schemas.openxmlformats.org/drawingml/2006/main">
            <a:r>
              <a:rPr lang="en-US" sz="1800" b="0">
                <a:solidFill>
                  <a:srgbClr val="FFFFFF"/>
                </a:solidFill>
                <a:latin typeface="Calibri"/>
                <a:ea typeface="Calibri"/>
              </a:rPr>
              <a:t>6. Runner uploads and installs package on QA BAW Server</a:t>
            </a:r>
          </a:p>
          <a:p xmlns:a="http://schemas.openxmlformats.org/drawingml/2006/main">
            <a:r>
              <a:rPr lang="en-US" sz="1800" b="0">
                <a:solidFill>
                  <a:srgbClr val="FFFFFF"/>
                </a:solidFill>
                <a:latin typeface="Calibri"/>
                <a:ea typeface="Calibri"/>
              </a:rPr>
              <a:t>7. Pipeline polls async queue until install completes</a:t>
            </a:r>
          </a:p>
          <a:p xmlns:a="http://schemas.openxmlformats.org/drawingml/2006/main">
            <a:r>
              <a:rPr lang="en-US" sz="1800" b="0">
                <a:solidFill>
                  <a:srgbClr val="FFFFFF"/>
                </a:solidFill>
                <a:latin typeface="Calibri"/>
                <a:ea typeface="Calibri"/>
              </a:rPr>
              <a:t>8. QA team receives email notification for sign-off</a:t>
            </a:r>
          </a:p>
          <a:p xmlns:a="http://schemas.openxmlformats.org/drawingml/2006/main">
            <a:r>
              <a:rPr lang="en-US" sz="1800" b="0">
                <a:solidFill>
                  <a:srgbClr val="FFFFFF"/>
                </a:solidFill>
                <a:latin typeface="Calibri"/>
                <a:ea typeface="Calibri"/>
              </a:rPr>
              <a:t>9. Reviewer approves via GitHub environment gate</a:t>
            </a:r>
          </a:p>
        </p:txBody>
      </p:sp>
    </p:spTree>
  </p:cSld>
</p:sld>
</file>

<file path=ppt/slides/slide5.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10"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Key Components</a:t>
            </a:r>
          </a:p>
        </p:txBody>
      </p:sp>
      <p:sp>
        <p:nvSpPr>
          <p:cNvPr id="100011"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FFFFFF"/>
                </a:solidFill>
                <a:latin typeface="Calibri"/>
                <a:ea typeface="Calibri"/>
              </a:rPr>
              <a:t>• GitHub Repository — stores descriptors and workflow definitions</a:t>
            </a:r>
          </a:p>
          <a:p xmlns:a="http://schemas.openxmlformats.org/drawingml/2006/main">
            <a:r>
              <a:rPr lang="en-US" sz="2000" b="0">
                <a:solidFill>
                  <a:srgbClr val="FFFFFF"/>
                </a:solidFill>
                <a:latin typeface="Calibri"/>
                <a:ea typeface="Calibri"/>
              </a:rPr>
              <a:t>• GitHub Actions — orchestrates the pipeline steps</a:t>
            </a:r>
          </a:p>
          <a:p xmlns:a="http://schemas.openxmlformats.org/drawingml/2006/main">
            <a:r>
              <a:rPr lang="en-US" sz="2000" b="0">
                <a:solidFill>
                  <a:srgbClr val="FFFFFF"/>
                </a:solidFill>
                <a:latin typeface="Calibri"/>
                <a:ea typeface="Calibri"/>
              </a:rPr>
              <a:t>• Self-Hosted Runner — Linux machine on your network with access to BAW servers</a:t>
            </a:r>
          </a:p>
          <a:p xmlns:a="http://schemas.openxmlformats.org/drawingml/2006/main">
            <a:r>
              <a:rPr lang="en-US" sz="2000" b="0">
                <a:solidFill>
                  <a:srgbClr val="FFFFFF"/>
                </a:solidFill>
                <a:latin typeface="Calibri"/>
                <a:ea typeface="Calibri"/>
              </a:rPr>
              <a:t>• BAW REST API (/ops) — used for login, package generation, download, and install</a:t>
            </a:r>
          </a:p>
          <a:p xmlns:a="http://schemas.openxmlformats.org/drawingml/2006/main">
            <a:r>
              <a:rPr lang="en-US" sz="2000" b="0">
                <a:solidFill>
                  <a:srgbClr val="FFFFFF"/>
                </a:solidFill>
                <a:latin typeface="Calibri"/>
                <a:ea typeface="Calibri"/>
              </a:rPr>
              <a:t>• GitHub Environments — provides the manual approval gate with email notification</a:t>
            </a:r>
          </a:p>
        </p:txBody>
      </p:sp>
    </p:spTree>
  </p:cSld>
</p:sld>
</file>

<file path=ppt/slides/slide6.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12"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What We Built</a:t>
            </a:r>
          </a:p>
        </p:txBody>
      </p:sp>
      <p:sp>
        <p:nvSpPr>
          <p:cNvPr id="100013"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900" b="0">
                <a:solidFill>
                  <a:srgbClr val="FFFFFF"/>
                </a:solidFill>
                <a:latin typeface="Calibri"/>
                <a:ea typeface="Calibri"/>
              </a:rPr>
              <a:t>• Shell script (poc-qa-deploy.sh) — handles all BAW REST API calls with full logging</a:t>
            </a:r>
          </a:p>
          <a:p xmlns:a="http://schemas.openxmlformats.org/drawingml/2006/main">
            <a:r>
              <a:rPr lang="en-US" sz="1900" b="0">
                <a:solidFill>
                  <a:srgbClr val="FFFFFF"/>
                </a:solidFill>
                <a:latin typeface="Calibri"/>
                <a:ea typeface="Calibri"/>
              </a:rPr>
              <a:t>• Workflow YAML (poc-qa-deploy.yml) — defines triggers, parsing, secrets, and approval gate</a:t>
            </a:r>
          </a:p>
          <a:p xmlns:a="http://schemas.openxmlformats.org/drawingml/2006/main">
            <a:r>
              <a:rPr lang="en-US" sz="1900" b="0">
                <a:solidFill>
                  <a:srgbClr val="FFFFFF"/>
                </a:solidFill>
                <a:latin typeface="Calibri"/>
                <a:ea typeface="Calibri"/>
              </a:rPr>
              <a:t>• Structured logging — every run writes timestamped log to ~/baw-cicd-logs/ on runner</a:t>
            </a:r>
          </a:p>
          <a:p xmlns:a="http://schemas.openxmlformats.org/drawingml/2006/main">
            <a:r>
              <a:rPr lang="en-US" sz="1900" b="0">
                <a:solidFill>
                  <a:srgbClr val="FFFFFF"/>
                </a:solidFill>
                <a:latin typeface="Calibri"/>
                <a:ea typeface="Calibri"/>
              </a:rPr>
              <a:t>• Failure preservation — API response JSON files saved on failure for post-mortem</a:t>
            </a:r>
          </a:p>
          <a:p xmlns:a="http://schemas.openxmlformats.org/drawingml/2006/main">
            <a:r>
              <a:rPr lang="en-US" sz="1900" b="0">
                <a:solidFill>
                  <a:srgbClr val="FFFFFF"/>
                </a:solidFill>
                <a:latin typeface="Calibri"/>
                <a:ea typeface="Calibri"/>
              </a:rPr>
              <a:t>• Poll timeouts — 20 min for package generation, 30 min for QA installation</a:t>
            </a:r>
          </a:p>
          <a:p xmlns:a="http://schemas.openxmlformats.org/drawingml/2006/main">
            <a:r>
              <a:rPr lang="en-US" sz="1900" b="0">
                <a:solidFill>
                  <a:srgbClr val="FFFFFF"/>
                </a:solidFill>
                <a:latin typeface="Calibri"/>
                <a:ea typeface="Calibri"/>
              </a:rPr>
              <a:t>• Manual dispatch — team can trigger with custom snapshot name without a BAW push</a:t>
            </a:r>
          </a:p>
        </p:txBody>
      </p:sp>
    </p:spTree>
  </p:cSld>
</p:sld>
</file>

<file path=ppt/slides/slide7.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14"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Lessons Learned</a:t>
            </a:r>
          </a:p>
        </p:txBody>
      </p:sp>
      <p:sp>
        <p:nvSpPr>
          <p:cNvPr id="100015" name="Body"/>
          <p:cNvSpPr txBox="1"/>
          <p:nvPr/>
        </p:nvSpPr>
        <p:spPr>
          <a:xfrm xmlns:a="http://schemas.openxmlformats.org/drawingml/2006/main">
            <a:off x="540000" y="1152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0">
                <a:solidFill>
                  <a:srgbClr val="FFFFFF"/>
                </a:solidFill>
                <a:latin typeface="Calibri"/>
                <a:ea typeface="Calibri"/>
              </a:rPr>
              <a:t>• BAW REST API returns 201 (not 200) on successful login</a:t>
            </a:r>
          </a:p>
          <a:p xmlns:a="http://schemas.openxmlformats.org/drawingml/2006/main">
            <a:r>
              <a:rPr lang="en-US" sz="1800" b="0">
                <a:solidFill>
                  <a:srgbClr val="FFFFFF"/>
                </a:solidFill>
                <a:latin typeface="Calibri"/>
                <a:ea typeface="Calibri"/>
              </a:rPr>
              <a:t>• CSRF token field is 'csrf_token' (not 'properties.BPMCSRFToken')</a:t>
            </a:r>
          </a:p>
          <a:p xmlns:a="http://schemas.openxmlformats.org/drawingml/2006/main">
            <a:r>
              <a:rPr lang="en-US" sz="1800" b="0">
                <a:solidFill>
                  <a:srgbClr val="FFFFFF"/>
                </a:solidFill>
                <a:latin typeface="Calibri"/>
                <a:ea typeface="Calibri"/>
              </a:rPr>
              <a:t>• Every authenticated BAW request needs BPMCSRFToken header — including queue polls</a:t>
            </a:r>
          </a:p>
          <a:p xmlns:a="http://schemas.openxmlformats.org/drawingml/2006/main">
            <a:r>
              <a:rPr lang="en-US" sz="1800" b="0">
                <a:solidFill>
                  <a:srgbClr val="FFFFFF"/>
                </a:solidFill>
                <a:latin typeface="Calibri"/>
                <a:ea typeface="Calibri"/>
              </a:rPr>
              <a:t>• BAW async operations return a 'url' field for polling (when available)</a:t>
            </a:r>
          </a:p>
          <a:p xmlns:a="http://schemas.openxmlformats.org/drawingml/2006/main">
            <a:r>
              <a:rPr lang="en-US" sz="1800" b="0">
                <a:solidFill>
                  <a:srgbClr val="FFFFFF"/>
                </a:solidFill>
                <a:latin typeface="Calibri"/>
                <a:ea typeface="Calibri"/>
              </a:rPr>
              <a:t>• Queue responses use 'state' field (not 'status')</a:t>
            </a:r>
          </a:p>
          <a:p xmlns:a="http://schemas.openxmlformats.org/drawingml/2006/main">
            <a:r>
              <a:rPr lang="en-US" sz="1800" b="0">
                <a:solidFill>
                  <a:srgbClr val="FFFFFF"/>
                </a:solidFill>
                <a:latin typeface="Calibri"/>
                <a:ea typeface="Calibri"/>
              </a:rPr>
              <a:t>• GitHub Actions checkout defaults to depth 1 — use fetch-depth: 2 for git diff</a:t>
            </a:r>
          </a:p>
          <a:p xmlns:a="http://schemas.openxmlformats.org/drawingml/2006/main">
            <a:r>
              <a:rPr lang="en-US" sz="1800" b="0">
                <a:solidFill>
                  <a:srgbClr val="FFFFFF"/>
                </a:solidFill>
                <a:latin typeface="Calibri"/>
                <a:ea typeface="Calibri"/>
              </a:rPr>
              <a:t>• Server-side errors (CWTBG0737E) need SystemOut.log — pipeline can only surface the code</a:t>
            </a:r>
          </a:p>
        </p:txBody>
      </p:sp>
    </p:spTree>
  </p:cSld>
</p:sld>
</file>

<file path=ppt/slides/slide8.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16"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Live Demo</a:t>
            </a:r>
          </a:p>
        </p:txBody>
      </p:sp>
      <p:sp>
        <p:nvSpPr>
          <p:cNvPr id="100017" name="Body"/>
          <p:cNvSpPr txBox="1"/>
          <p:nvPr/>
        </p:nvSpPr>
        <p:spPr>
          <a:xfrm xmlns:a="http://schemas.openxmlformats.org/drawingml/2006/main">
            <a:off x="540000" y="1260000"/>
            <a:ext cx="1080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FFFFFF"/>
                </a:solidFill>
                <a:latin typeface="Calibri"/>
                <a:ea typeface="Calibri"/>
              </a:rPr>
              <a:t>1. Push snapshot RHS1803 from BAW Workflow Center</a:t>
            </a:r>
          </a:p>
          <a:p xmlns:a="http://schemas.openxmlformats.org/drawingml/2006/main">
            <a:r>
              <a:rPr lang="en-US" sz="2200" b="0">
                <a:solidFill>
                  <a:srgbClr val="FFFFFF"/>
                </a:solidFill>
                <a:latin typeface="Calibri"/>
                <a:ea typeface="Calibri"/>
              </a:rPr>
              <a:t>2. Watch GitHub Actions trigger automatically</a:t>
            </a:r>
          </a:p>
          <a:p xmlns:a="http://schemas.openxmlformats.org/drawingml/2006/main">
            <a:r>
              <a:rPr lang="en-US" sz="2200" b="0">
                <a:solidFill>
                  <a:srgbClr val="FFFFFF"/>
                </a:solidFill>
                <a:latin typeface="Calibri"/>
                <a:ea typeface="Calibri"/>
              </a:rPr>
              <a:t>3. Follow the pipeline through package generation and QA install</a:t>
            </a:r>
          </a:p>
          <a:p xmlns:a="http://schemas.openxmlformats.org/drawingml/2006/main">
            <a:r>
              <a:rPr lang="en-US" sz="2200" b="0">
                <a:solidFill>
                  <a:srgbClr val="FFFFFF"/>
                </a:solidFill>
                <a:latin typeface="Calibri"/>
                <a:ea typeface="Calibri"/>
              </a:rPr>
              <a:t>4. Receive the approval email</a:t>
            </a:r>
          </a:p>
          <a:p xmlns:a="http://schemas.openxmlformats.org/drawingml/2006/main">
            <a:r>
              <a:rPr lang="en-US" sz="2200" b="0">
                <a:solidFill>
                  <a:srgbClr val="FFFFFF"/>
                </a:solidFill>
                <a:latin typeface="Calibri"/>
                <a:ea typeface="Calibri"/>
              </a:rPr>
              <a:t>5. Approve the deployment via GitHub UI</a:t>
            </a:r>
          </a:p>
          <a:p xmlns:a="http://schemas.openxmlformats.org/drawingml/2006/main">
            <a:r>
              <a:rPr lang="en-US" sz="2200" b="0">
                <a:solidFill>
                  <a:srgbClr val="FFFFFF"/>
                </a:solidFill>
                <a:latin typeface="Calibri"/>
                <a:ea typeface="Calibri"/>
              </a:rPr>
              <a:t>6. Pipeline completes ✅</a:t>
            </a:r>
          </a:p>
        </p:txBody>
      </p:sp>
    </p:spTree>
  </p:cSld>
</p:sld>
</file>

<file path=ppt/slides/slide9.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18" name="Title"/>
          <p:cNvSpPr txBox="1"/>
          <p:nvPr/>
        </p:nvSpPr>
        <p:spPr>
          <a:xfrm xmlns:a="http://schemas.openxmlformats.org/drawingml/2006/main">
            <a:off x="540000" y="2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What's Next</a:t>
            </a:r>
          </a:p>
        </p:txBody>
      </p:sp>
      <p:sp>
        <p:nvSpPr>
          <p:cNvPr id="100019" name="Body"/>
          <p:cNvSpPr txBox="1"/>
          <p:nvPr/>
        </p:nvSpPr>
        <p:spPr>
          <a:xfrm xmlns:a="http://schemas.openxmlformats.org/drawingml/2006/main">
            <a:off x="540000" y="1152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0">
                <a:solidFill>
                  <a:srgbClr val="FFFFFF"/>
                </a:solidFill>
                <a:latin typeface="Calibri"/>
                <a:ea typeface="Calibri"/>
              </a:rPr>
              <a:t>• Promote to Production — add a second approval gate for PROD deployment</a:t>
            </a:r>
          </a:p>
          <a:p xmlns:a="http://schemas.openxmlformats.org/drawingml/2006/main">
            <a:r>
              <a:rPr lang="en-US" sz="2000" b="0">
                <a:solidFill>
                  <a:srgbClr val="FFFFFF"/>
                </a:solidFill>
                <a:latin typeface="Calibri"/>
                <a:ea typeface="Calibri"/>
              </a:rPr>
              <a:t>• Multi-environment support — DEV → QA → STAGING → PROD pipeline</a:t>
            </a:r>
          </a:p>
          <a:p xmlns:a="http://schemas.openxmlformats.org/drawingml/2006/main">
            <a:r>
              <a:rPr lang="en-US" sz="2000" b="0">
                <a:solidFill>
                  <a:srgbClr val="FFFFFF"/>
                </a:solidFill>
                <a:latin typeface="Calibri"/>
                <a:ea typeface="Calibri"/>
              </a:rPr>
              <a:t>• Slack/Teams notifications — real-time alerts beyond email</a:t>
            </a:r>
          </a:p>
          <a:p xmlns:a="http://schemas.openxmlformats.org/drawingml/2006/main">
            <a:r>
              <a:rPr lang="en-US" sz="2000" b="0">
                <a:solidFill>
                  <a:srgbClr val="FFFFFF"/>
                </a:solidFill>
                <a:latin typeface="Calibri"/>
                <a:ea typeface="Calibri"/>
              </a:rPr>
              <a:t>• Automated smoke tests — trigger BAW process instances post-deploy to verify</a:t>
            </a:r>
          </a:p>
          <a:p xmlns:a="http://schemas.openxmlformats.org/drawingml/2006/main">
            <a:r>
              <a:rPr lang="en-US" sz="2000" b="0">
                <a:solidFill>
                  <a:srgbClr val="FFFFFF"/>
                </a:solidFill>
                <a:latin typeface="Calibri"/>
                <a:ea typeface="Calibri"/>
              </a:rPr>
              <a:t>• Rollback capability — undeploy previous snapshot on failure</a:t>
            </a:r>
          </a:p>
          <a:p xmlns:a="http://schemas.openxmlformats.org/drawingml/2006/main">
            <a:r>
              <a:rPr lang="en-US" sz="2000" b="0">
                <a:solidFill>
                  <a:srgbClr val="FFFFFF"/>
                </a:solidFill>
                <a:latin typeface="Calibri"/>
                <a:ea typeface="Calibri"/>
              </a:rPr>
              <a:t>• Dashboard — GitHub Pages site showing deployment history</a:t>
            </a:r>
          </a:p>
        </p:txBody>
      </p:sp>
    </p:spTree>
  </p:cSld>
</p:sld>
</file>

<file path=ppt/slides/slide10.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p:sp>
        <p:nvSpPr>
          <p:cNvPr id="100020" name="Title"/>
          <p:cNvSpPr txBox="1"/>
          <p:nvPr/>
        </p:nvSpPr>
        <p:spPr>
          <a:xfrm xmlns:a="http://schemas.openxmlformats.org/drawingml/2006/main">
            <a:off x="540000" y="108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FFFFFF"/>
                </a:solidFill>
                <a:latin typeface="Calibri"/>
                <a:ea typeface="Calibri"/>
              </a:rPr>
              <a:t>Thank You</a:t>
            </a:r>
          </a:p>
        </p:txBody>
      </p:sp>
      <p:sp>
        <p:nvSpPr>
          <p:cNvPr id="100021" name="QA"/>
          <p:cNvSpPr txBox="1"/>
          <p:nvPr/>
        </p:nvSpPr>
        <p:spPr>
          <a:xfrm xmlns:a="http://schemas.openxmlformats.org/drawingml/2006/main">
            <a:off x="540000" y="252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2800" b="0">
                <a:solidFill>
                  <a:srgbClr val="BDD7EE"/>
                </a:solidFill>
                <a:latin typeface="Calibri"/>
                <a:ea typeface="Calibri"/>
              </a:rPr>
              <a:t>Questions &amp; Discussion</a:t>
            </a:r>
          </a:p>
        </p:txBody>
      </p:sp>
      <p:sp>
        <p:nvSpPr>
          <p:cNvPr id="100022" name="Footer"/>
          <p:cNvSpPr txBox="1"/>
          <p:nvPr/>
        </p:nvSpPr>
        <p:spPr>
          <a:xfrm xmlns:a="http://schemas.openxmlformats.org/drawingml/2006/main">
            <a:off x="540000" y="504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800" b="0">
                <a:solidFill>
                  <a:srgbClr val="9DC3E6"/>
                </a:solidFill>
                <a:latin typeface="Calibri"/>
                <a:ea typeface="Calibri"/>
              </a:rPr>
              <a:t>GitHub: github.com/ljiang-labca/BAW-CICD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2026-09-10T17:58:30Z</dcterms:created>
  <cp:lastModifiedBy>OfficeCLI</cp:lastModifiedBy>
  <dcterms:modified xsi:type="dcterms:W3CDTF">2026-09-10T17:58:30Z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2026-09-10T17:58:31Z</vt:lpwstr>
  </op:property>
</op:Properties>
</file>